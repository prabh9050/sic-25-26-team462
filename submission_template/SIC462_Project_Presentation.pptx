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72" r:id="rId24"/>
    <p:sldId id="258" r:id="rId4"/>
    <p:sldId id="260" r:id="rId9"/>
    <p:sldId id="261" r:id="rId8"/>
    <p:sldId id="273" r:id="rId25"/>
    <p:sldId id="262" r:id="rId7"/>
    <p:sldId id="263" r:id="rId15"/>
    <p:sldId id="264" r:id="rId16"/>
    <p:sldId id="265" r:id="rId17"/>
    <p:sldId id="274" r:id="rId26"/>
    <p:sldId id="266" r:id="rId18"/>
    <p:sldId id="267" r:id="rId19"/>
    <p:sldId id="268" r:id="rId20"/>
    <p:sldId id="271" r:id="rId23"/>
    <p:sldId id="269" r:id="rId21"/>
    <p:sldId id="270" r:id="rId22"/>
    <p:sldId id="259" r:id="rId5"/>
  </p:sldIdLst>
  <p:sldSz cx="9902825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119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" roundtripDataSignature="AMtx7miUDM6Ae9C3YrxVlldXvCL2TFIM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19"/>
        <p:guide orient="horz" pos="216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19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8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customschemas.google.com/relationships/presentationmetadata" Target="meta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6.xml"/><Relationship Id="rId24" Type="http://schemas.openxmlformats.org/officeDocument/2006/relationships/slide" Target="slides/slide3.xml"/><Relationship Id="rId25" Type="http://schemas.openxmlformats.org/officeDocument/2006/relationships/slide" Target="slides/slide7.xml"/><Relationship Id="rId26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ont Cover">
  <p:cSld name="Front Cover">
    <p:bg>
      <p:bgPr>
        <a:solidFill>
          <a:srgbClr val="F2F2F2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6"/>
          <p:cNvSpPr/>
          <p:nvPr/>
        </p:nvSpPr>
        <p:spPr>
          <a:xfrm>
            <a:off x="449468" y="450000"/>
            <a:ext cx="1282022" cy="198000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None/>
            </a:pPr>
            <a:endParaRPr sz="195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5631" y="6141164"/>
            <a:ext cx="1371564" cy="4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6"/>
          <p:cNvSpPr/>
          <p:nvPr/>
        </p:nvSpPr>
        <p:spPr>
          <a:xfrm>
            <a:off x="990000" y="4320000"/>
            <a:ext cx="58325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Big Data Course</a:t>
            </a:r>
            <a:endParaRPr sz="2400" b="0" i="0" u="none" strike="noStrike" cap="none">
              <a:solidFill>
                <a:srgbClr val="1428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6"/>
          <p:cNvSpPr/>
          <p:nvPr/>
        </p:nvSpPr>
        <p:spPr>
          <a:xfrm>
            <a:off x="724689" y="4320000"/>
            <a:ext cx="54000" cy="360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6"/>
          <p:cNvSpPr txBox="1">
            <a:spLocks noGrp="1"/>
          </p:cNvSpPr>
          <p:nvPr>
            <p:ph type="body" idx="1"/>
          </p:nvPr>
        </p:nvSpPr>
        <p:spPr>
          <a:xfrm>
            <a:off x="720000" y="3551768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09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sz="2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5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720000" y="1710000"/>
            <a:ext cx="522101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able of Contents2">
  <p:cSld name="3_Table of Contents2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" name="Google Shape;20;p7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" name="Google Shape;21;p7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7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4">
          <p15:clr>
            <a:srgbClr val="FBAE40"/>
          </p15:clr>
        </p15:guide>
        <p15:guide id="2" pos="443">
          <p15:clr>
            <a:srgbClr val="FBAE40"/>
          </p15:clr>
        </p15:guide>
        <p15:guide id="3" pos="5955">
          <p15:clr>
            <a:srgbClr val="FBAE40"/>
          </p15:clr>
        </p15:guide>
        <p15:guide id="4" pos="60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able of Contents">
  <p:cSld name="2_Table of Conten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" name="Google Shape;25;p8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" name="Google Shape;26;p8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8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449468" y="1440000"/>
            <a:ext cx="854118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449468" y="450000"/>
            <a:ext cx="323896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99"/>
              <a:buFont typeface="Arial"/>
              <a:buNone/>
              <a:defRPr sz="1799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09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sz="2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5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2"/>
          </p:nvPr>
        </p:nvSpPr>
        <p:spPr>
          <a:xfrm>
            <a:off x="790000" y="450001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99"/>
              <a:buFont typeface="Arial"/>
              <a:buNone/>
              <a:defRPr sz="1799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09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sz="2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5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3"/>
          </p:nvPr>
        </p:nvSpPr>
        <p:spPr>
          <a:xfrm>
            <a:off x="9112825" y="480779"/>
            <a:ext cx="3406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09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sz="2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5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4"/>
          </p:nvPr>
        </p:nvSpPr>
        <p:spPr>
          <a:xfrm>
            <a:off x="8740667" y="480779"/>
            <a:ext cx="4678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09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sz="2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5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body" idx="5"/>
          </p:nvPr>
        </p:nvSpPr>
        <p:spPr>
          <a:xfrm>
            <a:off x="522288" y="2221661"/>
            <a:ext cx="805543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21945" algn="l" rtl="0">
              <a:lnSpc>
                <a:spcPct val="128571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7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4640" algn="l" rtl="0">
              <a:lnSpc>
                <a:spcPct val="138461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040"/>
              <a:buFont typeface="Arial"/>
              <a:buChar char="•"/>
              <a:defRPr sz="13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5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8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Covid Data Analysis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2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" typ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4395"/>
            <a:ext cx="9899651" cy="685360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9"/>
          <p:cNvSpPr/>
          <p:nvPr/>
        </p:nvSpPr>
        <p:spPr>
          <a:xfrm>
            <a:off x="2" y="0"/>
            <a:ext cx="9899651" cy="6858000"/>
          </a:xfrm>
          <a:prstGeom prst="rect">
            <a:avLst/>
          </a:prstGeom>
          <a:solidFill>
            <a:srgbClr val="1428A0">
              <a:alpha val="8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59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9"/>
          <p:cNvSpPr/>
          <p:nvPr/>
        </p:nvSpPr>
        <p:spPr>
          <a:xfrm>
            <a:off x="449468" y="5677032"/>
            <a:ext cx="9000714" cy="730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ⓒ2023 SAMSUNG. All rights reserved.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Electronics Corporate Citizenship Office holds the copyright of book.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book is a literary property protected by copyright law so reprint and reproduction without permission are prohibited.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 use this book other than the curriculum of Samsung Innovation Campus or to use the entire or part of this book, you must receive written consent from copyright holder.</a:t>
            </a:r>
            <a:endParaRPr/>
          </a:p>
        </p:txBody>
      </p:sp>
      <p:pic>
        <p:nvPicPr>
          <p:cNvPr id="39" name="Google Shape;3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11822" y="3022951"/>
            <a:ext cx="2476006" cy="81209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449468" y="450000"/>
            <a:ext cx="1290568" cy="198000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None/>
            </a:pPr>
            <a:endParaRPr sz="195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Google Shape;42;p10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3" name="Google Shape;43;p10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0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45" name="Google Shape;45;p10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Covid Data Analysis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5">
          <p15:clr>
            <a:srgbClr val="FBAE40"/>
          </p15:clr>
        </p15:guide>
        <p15:guide id="2" pos="5955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able of Contents2">
  <p:cSld name="2_Table of Contents2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" name="Google Shape;48;p11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9" name="Google Shape;49;p11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1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/>
          </p:nvPr>
        </p:nvSpPr>
        <p:spPr>
          <a:xfrm>
            <a:off x="990000" y="2095275"/>
            <a:ext cx="5221019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990000" y="3577645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09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sz="2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5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4">
          <p15:clr>
            <a:srgbClr val="FBAE40"/>
          </p15:clr>
        </p15:guide>
        <p15:guide id="2" pos="443">
          <p15:clr>
            <a:srgbClr val="FBAE40"/>
          </p15:clr>
        </p15:guide>
        <p15:guide id="3" pos="5955">
          <p15:clr>
            <a:srgbClr val="FBAE40"/>
          </p15:clr>
        </p15:guide>
        <p15:guide id="4" pos="60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able of Contents">
  <p:cSld name="3_Table of Content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2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" name="Google Shape;59;p12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2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61" name="Google Shape;61;p12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Covid Data Analysis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2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able of Contents">
  <p:cSld name="1_Table of Contents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" name="Google Shape;64;p13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5" name="Google Shape;65;p13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67" name="Google Shape;67;p13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Covid Data Analysis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955">
          <p15:clr>
            <a:srgbClr val="FBAE40"/>
          </p15:clr>
        </p15:guide>
        <p15:guide id="3" pos="28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">
  <p:cSld name="Bod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14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0" name="Google Shape;70;p14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cxnSp>
        <p:nvCxnSpPr>
          <p:cNvPr id="72" name="Google Shape;72;p14"/>
          <p:cNvCxnSpPr/>
          <p:nvPr/>
        </p:nvCxnSpPr>
        <p:spPr>
          <a:xfrm>
            <a:off x="449468" y="900000"/>
            <a:ext cx="9000714" cy="0"/>
          </a:xfrm>
          <a:prstGeom prst="straightConnector1">
            <a:avLst/>
          </a:prstGeom>
          <a:noFill/>
          <a:ln w="15875" cap="flat" cmpd="sng">
            <a:solidFill>
              <a:srgbClr val="0924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3" name="Google Shape;73;p14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Covid Data Analysis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ody">
  <p:cSld name="1_Body">
    <p:bg>
      <p:bgPr>
        <a:solidFill>
          <a:srgbClr val="F2F2F2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449468" y="450000"/>
            <a:ext cx="1282022" cy="198000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None/>
            </a:pPr>
            <a:endParaRPr sz="195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5631" y="6141164"/>
            <a:ext cx="1371564" cy="4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>
            <a:spLocks noGrp="1"/>
          </p:cNvSpPr>
          <p:nvPr>
            <p:ph type="body" idx="1"/>
          </p:nvPr>
        </p:nvSpPr>
        <p:spPr>
          <a:xfrm>
            <a:off x="720000" y="3551768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rPr lang="en-US"/>
              <a:t>SIC-25-26-Team 462</a:t>
            </a:r>
            <a:endParaRPr/>
          </a:p>
        </p:txBody>
      </p:sp>
      <p:sp>
        <p:nvSpPr>
          <p:cNvPr id="83" name="Google Shape;83;p1"/>
          <p:cNvSpPr txBox="1">
            <a:spLocks noGrp="1"/>
          </p:cNvSpPr>
          <p:nvPr>
            <p:ph type="title"/>
          </p:nvPr>
        </p:nvSpPr>
        <p:spPr>
          <a:xfrm>
            <a:off x="720000" y="1710000"/>
            <a:ext cx="522101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sz="2800" b="1"/>
              <a:t>COVID-19 Pandemic Data Analysis &amp; Trend Prediction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/>
          <p:cNvGrpSpPr/>
          <p:nvPr/>
        </p:nvGrpSpPr>
        <p:grpSpPr>
          <a:xfrm>
            <a:off x="710836" y="1892040"/>
            <a:ext cx="4379913" cy="1216982"/>
            <a:chOff x="4181256" y="3224809"/>
            <a:chExt cx="4379913" cy="1216982"/>
          </a:xfrm>
        </p:grpSpPr>
        <p:sp>
          <p:nvSpPr>
            <p:cNvPr id="89" name="Google Shape;89;p2"/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Problem Statement &amp; Data</a:t>
              </a: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5160752" y="3641572"/>
              <a:ext cx="3400417" cy="8002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193EB0"/>
                  </a:solidFill>
                  <a:latin typeface="Arial"/>
                  <a:ea typeface="Arial"/>
                  <a:cs typeface="Arial"/>
                  <a:sym typeface="Arial"/>
                </a:rPr>
                <a:t>1.1. Problem Statement &amp; Objectives</a:t>
              </a:r>
              <a:endParaRPr/>
            </a:p>
            <a:p>
              <a:pPr marL="0" marR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1.2. Dataset Overview</a:t>
              </a:r>
              <a:endParaRPr/>
            </a:p>
            <a:p>
              <a:pPr marL="0" marR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1.3. Methodology &amp; Architecture</a:t>
              </a:r>
              <a:endParaRPr/>
            </a:p>
          </p:txBody>
        </p:sp>
      </p:grpSp>
      <p:grpSp>
        <p:nvGrpSpPr>
          <p:cNvPr id="92" name="Google Shape;92;p2"/>
          <p:cNvGrpSpPr/>
          <p:nvPr/>
        </p:nvGrpSpPr>
        <p:grpSpPr>
          <a:xfrm>
            <a:off x="710836" y="3266753"/>
            <a:ext cx="4379913" cy="1216982"/>
            <a:chOff x="4181256" y="3224809"/>
            <a:chExt cx="4379913" cy="1216982"/>
          </a:xfrm>
        </p:grpSpPr>
        <p:sp>
          <p:nvSpPr>
            <p:cNvPr id="93" name="Google Shape;93;p2"/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Analysis &amp; Modeling</a:t>
              </a: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5160752" y="3641572"/>
              <a:ext cx="3400417" cy="8002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193EB0"/>
                  </a:solidFill>
                  <a:latin typeface="Arial"/>
                  <a:ea typeface="Arial"/>
                  <a:cs typeface="Arial"/>
                  <a:sym typeface="Arial"/>
                </a:rPr>
                <a:t>2.1. Data Preprocessing</a:t>
              </a:r>
              <a:endParaRPr/>
            </a:p>
            <a:p>
              <a:pPr marL="0" marR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2.2. Exploratory Data Analysis</a:t>
              </a:r>
              <a:endParaRPr/>
            </a:p>
            <a:p>
              <a:pPr marL="0" marR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2.3. Feature Engineering &amp; Modeling</a:t>
              </a:r>
              <a:endParaRPr/>
            </a:p>
          </p:txBody>
        </p:sp>
      </p:grpSp>
      <p:grpSp>
        <p:nvGrpSpPr>
          <p:cNvPr id="96" name="Google Shape;96;p2"/>
          <p:cNvGrpSpPr/>
          <p:nvPr/>
        </p:nvGrpSpPr>
        <p:grpSpPr>
          <a:xfrm>
            <a:off x="710836" y="4641466"/>
            <a:ext cx="4379913" cy="1216982"/>
            <a:chOff x="4181256" y="3224809"/>
            <a:chExt cx="4379913" cy="1216982"/>
          </a:xfrm>
        </p:grpSpPr>
        <p:sp>
          <p:nvSpPr>
            <p:cNvPr id="97" name="Google Shape;97;p2"/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Results &amp; Conclusion</a:t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5160752" y="3641572"/>
              <a:ext cx="3400417" cy="8002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193EB0"/>
                  </a:solidFill>
                  <a:latin typeface="Arial"/>
                  <a:ea typeface="Arial"/>
                  <a:cs typeface="Arial"/>
                  <a:sym typeface="Arial"/>
                </a:rPr>
                <a:t>3.1. Results &amp; Evaluation</a:t>
              </a:r>
              <a:endParaRPr/>
            </a:p>
            <a:p>
              <a:pPr marL="0" marR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3.2. Team &amp; Project Management</a:t>
              </a:r>
              <a:endParaRPr/>
            </a:p>
            <a:p>
              <a:pPr marL="0" marR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3.3. Conclusions &amp; Future Work</a:t>
              </a:r>
              <a:endParaRPr/>
            </a:p>
          </p:txBody>
        </p:sp>
      </p:grpSp>
      <p:sp>
        <p:nvSpPr>
          <p:cNvPr id="100" name="Google Shape;100;p2"/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COVID-19 Data Analysis using Apache Spark &amp; ML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  <a:p>
            <a:r>
              <a:t>&amp;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00" y="3550000"/>
            <a:ext cx="7800000" cy="2800000"/>
          </a:xfrm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2E"/>
                </a:solidFill>
              </a:rPr>
              <a:t>We start with why this project exists and what we set out to do.</a:t>
            </a:r>
          </a:p>
          <a:p>
            <a:pPr>
              <a:spcAft>
                <a:spcPts val="400"/>
              </a:spcAft>
            </a:pP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93EB0"/>
                </a:solidFill>
              </a:rPr>
              <a:t>What this section covers: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A4A4A"/>
                </a:solidFill>
              </a:rPr>
              <a:t>The core problem — COVID-19 produced massive data that needed scalable analysis tools to be useful for public health planning.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A4A4A"/>
                </a:solidFill>
              </a:rPr>
              <a:t>Our objectives — identify pandemic wave patterns, build a short-term prediction model, and deliver a complete set of capstone outputs.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A4A4A"/>
                </a:solidFill>
              </a:rPr>
              <a:t>The dataset — 290+ countries, 1,032 days of data from Johns Hopkins University, and the specific fields we worked with.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A4A4A"/>
                </a:solidFill>
              </a:rPr>
              <a:t>The pipeline design — how we structured the work from raw data collection through to final model evaluation.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>
            <a:spLocks noGrp="1"/>
          </p:cNvSpPr>
          <p:nvPr>
            <p:ph type="title"/>
          </p:nvPr>
        </p:nvSpPr>
        <p:spPr>
          <a:xfrm>
            <a:off x="449468" y="1440000"/>
            <a:ext cx="854118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Objectives &amp; Scope</a:t>
            </a:r>
          </a:p>
        </p:txBody>
      </p:sp>
      <p:sp>
        <p:nvSpPr>
          <p:cNvPr id="107" name="Google Shape;107;p3"/>
          <p:cNvSpPr txBox="1">
            <a:spLocks noGrp="1"/>
          </p:cNvSpPr>
          <p:nvPr>
            <p:ph type="body" idx="2"/>
          </p:nvPr>
        </p:nvSpPr>
        <p:spPr>
          <a:xfrm>
            <a:off x="790000" y="450001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1.1 Problem Statement &amp; Objectives</a:t>
            </a:r>
          </a:p>
        </p:txBody>
      </p:sp>
      <p:sp>
        <p:nvSpPr>
          <p:cNvPr id="110" name="Google Shape;110;p3"/>
          <p:cNvSpPr txBox="1">
            <a:spLocks noGrp="1"/>
          </p:cNvSpPr>
          <p:nvPr>
            <p:ph type="body" idx="5"/>
          </p:nvPr>
        </p:nvSpPr>
        <p:spPr>
          <a:xfrm>
            <a:off x="522288" y="2221661"/>
            <a:ext cx="805543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747" indent="-177747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70"/>
              <a:buFont typeface="Arial"/>
              <a:buChar char="•"/>
            </a:pPr>
            <a:r>
              <a:t>The Challenge</a:t>
            </a:r>
            <a:endParaRPr/>
          </a:p>
          <a:p>
            <a:pPr lvl="1"/>
            <a:r>
              <a:t>COVID-19 produced enormous time-series data from over 290 countries across more than 1,000 days. Health authorities needed better tools to turn raw cumulative counts into usable daily trends</a:t>
            </a:r>
          </a:p>
          <a:p>
            <a:pPr/>
            <a:r>
              <a:t>Primary Goal</a:t>
            </a:r>
          </a:p>
          <a:p>
            <a:pPr lvl="1"/>
            <a:r>
              <a:t>Analyze global COVID-19 data at scale, spot patterns in how the virus spread across time and geography, and build a model that can predict near-term case counts</a:t>
            </a:r>
          </a:p>
          <a:p>
            <a:pPr/>
            <a:r>
              <a:t>Expected Outcomes</a:t>
            </a:r>
          </a:p>
          <a:p>
            <a:pPr lvl="1"/>
            <a:r>
              <a:t>Clear trend analysis, mapped pandemic waves, a working prediction model for short-term forecasting, and a complete set of capstone deliverables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 &amp; Scope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1.2 Dataset Overview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pPr/>
            <a:r>
              <a:t>Johns Hopkins University CSSE Dataset</a:t>
            </a:r>
          </a:p>
          <a:p>
            <a:pPr lvl="1"/>
            <a:r>
              <a:t>We used the publicly available JHU global dataset from a GitHub/Kaggle mirror. The specific file was 2023-11-18.csv</a:t>
            </a:r>
          </a:p>
          <a:p>
            <a:pPr/>
            <a:r>
              <a:t>Data Scope</a:t>
            </a:r>
          </a:p>
          <a:p>
            <a:pPr lvl="1"/>
            <a:r>
              <a:t>The dataset covers 290+ countries and regions with over 300 columns, spanning from January 22, 2020 to November 18, 2023 — about 1,032 days total</a:t>
            </a:r>
          </a:p>
          <a:p>
            <a:pPr/>
            <a:r>
              <a:t>Core Fields</a:t>
            </a:r>
          </a:p>
          <a:p>
            <a:pPr lvl="1"/>
            <a:r>
              <a:t>Each row contains Province/State, Country/Region, latitude/longitude coordinates, and date-indexed cumulative confirmed case counts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Analytics Pipeline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1.3 Methodology &amp; Architecture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pPr/>
            <a:r>
              <a:t>Data Acquisition and Validation</a:t>
            </a:r>
          </a:p>
          <a:p>
            <a:pPr lvl="1"/>
            <a:r>
              <a:t>We collected the JHU CSSE dataset and checked schema consistency — making sure all fields and formats were correct before going further</a:t>
            </a:r>
          </a:p>
          <a:p>
            <a:pPr/>
            <a:r>
              <a:t>Data Preparation</a:t>
            </a:r>
          </a:p>
          <a:p>
            <a:pPr lvl="1"/>
            <a:r>
              <a:t>Handled missing values, standardized date formats, and converted the wide table (one column per date) into a long format where each row is one country on one date</a:t>
            </a:r>
          </a:p>
          <a:p>
            <a:pPr/>
            <a:r>
              <a:t>Feature Engineering and EDA</a:t>
            </a:r>
          </a:p>
          <a:p>
            <a:pPr lvl="1"/>
            <a:r>
              <a:t>Derived DailyNewCases from cumulative totals and added time-based features. Then ran country-level, wave, and monthly trend analyses</a:t>
            </a:r>
          </a:p>
          <a:p>
            <a:pPr/>
            <a:r>
              <a:t>Modeling and Evaluation</a:t>
            </a:r>
          </a:p>
          <a:p>
            <a:pPr lvl="1"/>
            <a:r>
              <a:t>Trained two models in PySpark MLlib — Linear Regression and Random Forest — using an 80/20 train-test split. Compared them with RMSE, MAE, and R-squared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</a:t>
            </a:r>
          </a:p>
          <a:p>
            <a:r>
              <a:t>&amp; Modeling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00" y="3550000"/>
            <a:ext cx="7800000" cy="2800000"/>
          </a:xfrm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2E"/>
                </a:solidFill>
              </a:rPr>
              <a:t>This is where the real work happens.</a:t>
            </a:r>
          </a:p>
          <a:p>
            <a:pPr>
              <a:spcAft>
                <a:spcPts val="400"/>
              </a:spcAft>
            </a:pP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93EB0"/>
                </a:solidFill>
              </a:rPr>
              <a:t>What this section covers: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A4A4A"/>
                </a:solidFill>
              </a:rPr>
              <a:t>Data preprocessing — cleaning nulls, fixing formats, reshaping 300 date columns into a usable long format, and deriving daily case counts.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A4A4A"/>
                </a:solidFill>
              </a:rPr>
              <a:t>System architecture — our Spark + PySpark setup, how we used MLlib, and the visualization stack we relied on.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A4A4A"/>
                </a:solidFill>
              </a:rPr>
              <a:t>Exploratory analysis — the three major pandemic waves we identified and the patterns in how cases spread across countries.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A4A4A"/>
                </a:solidFill>
              </a:rPr>
              <a:t>Model training — how we built Linear Regression and Random Forest models, the features we used, and the train-test split.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Cleaning &amp; Transformation Pipeline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2.1 Data Preprocessing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pPr/>
            <a:r>
              <a:t>Missing Value Handling</a:t>
            </a:r>
          </a:p>
          <a:p>
            <a:pPr lvl="1"/>
            <a:r>
              <a:t>Found and dealt with null and NaN entries across all columns. Used imputation where appropriate and ran validation checks to confirm the fixes</a:t>
            </a:r>
          </a:p>
          <a:p>
            <a:pPr/>
            <a:r>
              <a:t>Datatype Normalization</a:t>
            </a:r>
          </a:p>
          <a:p>
            <a:pPr lvl="1"/>
            <a:r>
              <a:t>Cleaned up inconsistent date formats and numeric types. With 300+ columns, this step took real effort to get right</a:t>
            </a:r>
          </a:p>
          <a:p>
            <a:pPr/>
            <a:r>
              <a:t>Wide-to-Long Reshaping</a:t>
            </a:r>
          </a:p>
          <a:p>
            <a:pPr lvl="1"/>
            <a:r>
              <a:t>The original data had roughly 300 date columns. We reshaped it so each row represents one country on one date — much easier to work with</a:t>
            </a:r>
          </a:p>
          <a:p>
            <a:pPr/>
            <a:r>
              <a:t>DailyNewCases Derivation</a:t>
            </a:r>
          </a:p>
          <a:p>
            <a:pPr lvl="1"/>
            <a:r>
              <a:t>Calculated daily new cases by taking the difference between consecutive cumulative values. Added safeguards to handle occasional negative values from reporting corrections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 &amp; Tools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2.2 System Design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pPr/>
            <a:r>
              <a:t>Processing Framework</a:t>
            </a:r>
          </a:p>
          <a:p>
            <a:pPr lvl="1"/>
            <a:r>
              <a:t>We used Apache Spark 3.x with PySpark 3.5.0, running everything in Jupyter notebooks for quick iteration</a:t>
            </a:r>
          </a:p>
          <a:p>
            <a:pPr/>
            <a:r>
              <a:t>Data Handling</a:t>
            </a:r>
          </a:p>
          <a:p>
            <a:pPr lvl="1"/>
            <a:r>
              <a:t>Spark DataFrames handled the heavy lifting for distributed data transformations. MLlib ran the model training and evaluation</a:t>
            </a:r>
          </a:p>
          <a:p>
            <a:pPr/>
            <a:r>
              <a:t>Visualization</a:t>
            </a:r>
          </a:p>
          <a:p>
            <a:pPr lvl="1"/>
            <a:r>
              <a:t>For charts and graphs, we used matplotlib, seaborn, and plotly — each one suited to different types of visual output</a:t>
            </a:r>
          </a:p>
          <a:p>
            <a:pPr/>
            <a:r>
              <a:t>Version Control and Outputs</a:t>
            </a:r>
          </a:p>
          <a:p>
            <a:pPr lvl="1"/>
            <a:r>
              <a:t>All code lived in a Git/GitHub repo. Final outputs were saved as CSV and Parquet files, then pulled into Word, PowerPoint, and Excel deliverables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Pandemic Waves &amp; Trends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2.3 Exploratory Data Analysis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pPr/>
            <a:r>
              <a:t>Wave 1: March to May 2020</a:t>
            </a:r>
          </a:p>
          <a:p>
            <a:pPr lvl="1"/>
            <a:r>
              <a:t>The first global outbreak. Strict lockdowns went into effect and daily case numbers were still relatively low compared to what came later</a:t>
            </a:r>
          </a:p>
          <a:p>
            <a:pPr/>
            <a:r>
              <a:t>Wave 2: November 2020 to February 2021</a:t>
            </a:r>
          </a:p>
          <a:p>
            <a:pPr lvl="1"/>
            <a:r>
              <a:t>The winter surge hit hard. Daily case volumes jumped well above Wave 1 levels across multiple continents</a:t>
            </a:r>
          </a:p>
          <a:p>
            <a:pPr/>
            <a:r>
              <a:t>Wave 3: December 2021 to March 2022</a:t>
            </a:r>
          </a:p>
          <a:p>
            <a:pPr lvl="1"/>
            <a:r>
              <a:t>Driven by the Omicron variant. This wave had the highest peak daily case counts we observed in the entire dataset</a:t>
            </a:r>
          </a:p>
          <a:p>
            <a:pPr/>
            <a:r>
              <a:t>Other Patterns</a:t>
            </a:r>
          </a:p>
          <a:p>
            <a:pPr lvl="1"/>
            <a:r>
              <a:t>A small number of countries accounted for most of the total cases globally. We also noticed weekday/weekend differences in reporting, which matters when reading short-term fluctuations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 &amp; Selection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3.1 Feature Engineering &amp; Modeling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pPr/>
            <a:r>
              <a:t>Feature Vector</a:t>
            </a:r>
          </a:p>
          <a:p>
            <a:pPr lvl="1"/>
            <a:r>
              <a:t>We used DaysSinceStart, DayOfWeek, Month, and TotalCases as input features. The target variable was DailyNewCases</a:t>
            </a:r>
          </a:p>
          <a:p>
            <a:pPr/>
            <a:r>
              <a:t>Data Split</a:t>
            </a:r>
          </a:p>
          <a:p>
            <a:pPr lvl="1"/>
            <a:r>
              <a:t>80% of the data went to training, 20% to testing. This gave us a fair read on how well each model would generalize</a:t>
            </a:r>
          </a:p>
          <a:p>
            <a:pPr/>
            <a:r>
              <a:t>Linear Regression</a:t>
            </a:r>
          </a:p>
          <a:p>
            <a:pPr lvl="1"/>
            <a:r>
              <a:t>Our baseline model. Simple, interpretable, and it turned out to perform better than expected on this dataset</a:t>
            </a:r>
          </a:p>
          <a:p>
            <a:pPr/>
            <a:r>
              <a:t>Random Forest Regressor</a:t>
            </a:r>
          </a:p>
          <a:p>
            <a:pPr lvl="1"/>
            <a:r>
              <a:t>The non-linear alternative. It can capture more complex patterns but ended up not beating Linear Regression here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  <a:p>
            <a:r>
              <a:t>&amp; 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00" y="3550000"/>
            <a:ext cx="7800000" cy="2800000"/>
          </a:xfrm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2E"/>
                </a:solidFill>
              </a:rPr>
              <a:t>Here we look at what the numbers tell us and where this goes from here.</a:t>
            </a:r>
          </a:p>
          <a:p>
            <a:pPr>
              <a:spcAft>
                <a:spcPts val="400"/>
              </a:spcAft>
            </a:pP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93EB0"/>
                </a:solidFill>
              </a:rPr>
              <a:t>What this section covers: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A4A4A"/>
                </a:solidFill>
              </a:rPr>
              <a:t>Model performance — which model won, the actual RMSE and R-squared numbers, and where predictions worked best.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A4A4A"/>
                </a:solidFill>
              </a:rPr>
              <a:t>Testing and validation — how we verified our results and what the known limitations are.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A4A4A"/>
                </a:solidFill>
              </a:rPr>
              <a:t>The team — who did what, our 4-day sprint timeline, and how we divided the work across five members.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A4A4A"/>
                </a:solidFill>
              </a:rPr>
              <a:t>Future work and conclusion — what we would do differently, what could come next, and the final takeaways.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Comparison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3.2 Results &amp; Evaluation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pPr/>
            <a:r>
              <a:t>Linear Regression Won</a:t>
            </a:r>
          </a:p>
          <a:p>
            <a:pPr lvl="1"/>
            <a:r>
              <a:t>RMSE of 1,847.32, MAE of 892.15, and R-squared of 0.7234. This was the strongest performer across all metrics</a:t>
            </a:r>
          </a:p>
          <a:p>
            <a:pPr/>
            <a:r>
              <a:t>Random Forest Fell Short</a:t>
            </a:r>
          </a:p>
          <a:p>
            <a:pPr lvl="1"/>
            <a:r>
              <a:t>RMSE came in at 2,103.45 — about 14% worse than Linear Regression on the error scale</a:t>
            </a:r>
          </a:p>
          <a:p>
            <a:pPr/>
            <a:r>
              <a:t>Short-Term Predictions Worked Best</a:t>
            </a:r>
          </a:p>
          <a:p>
            <a:pPr lvl="1"/>
            <a:r>
              <a:t>Predictions for 1 to 7 days out were noticeably more accurate than medium-range forecasts, which makes sense given how fast pandemic dynamics can shift</a:t>
            </a:r>
          </a:p>
          <a:p>
            <a:pPr/>
            <a:r>
              <a:t>Where It Struggled</a:t>
            </a:r>
          </a:p>
          <a:p>
            <a:pPr lvl="1"/>
            <a:r>
              <a:t>The model held up well for high-volume countries but accuracy dropped when new variants caused sudden changes in the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Assurance &amp; Verification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3.3 Testing &amp; Validation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pPr/>
            <a:r>
              <a:t>Data Quality Checks</a:t>
            </a:r>
          </a:p>
          <a:p>
            <a:pPr lvl="1"/>
            <a:r>
              <a:t>We validated outputs at each transformation stage to make sure nothing broke along the way</a:t>
            </a:r>
          </a:p>
          <a:p>
            <a:pPr/>
            <a:r>
              <a:t>Prediction Verification</a:t>
            </a:r>
          </a:p>
          <a:p>
            <a:pPr lvl="1"/>
            <a:r>
              <a:t>Ran sanity checks on predictions across different regions and time windows. Results looked reasonable for the scope of this project</a:t>
            </a:r>
          </a:p>
          <a:p>
            <a:pPr/>
            <a:r>
              <a:t>Statistical Testing</a:t>
            </a:r>
          </a:p>
          <a:p>
            <a:pPr lvl="1"/>
            <a:r>
              <a:t>Ran significance tests that confirmed Linear Regression was the right pick. The metrics consistently favored it over Random Forest</a:t>
            </a:r>
          </a:p>
          <a:p>
            <a:pPr/>
            <a:r>
              <a:t>Known Limitations</a:t>
            </a:r>
          </a:p>
          <a:p>
            <a:pPr lvl="1"/>
            <a:r>
              <a:t>The model gets less reliable during sudden epidemiological shifts (like a new variant). It also depends on countries reporting their numbers accurately and on time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Roles &amp; Execution Timeline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4.1 Team &amp; Project Management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pPr/>
            <a:r>
              <a:t>Prince Bhatia — Team Leader</a:t>
            </a:r>
          </a:p>
          <a:p>
            <a:pPr lvl="1"/>
            <a:r>
              <a:t>Handled planning, tracked milestones, coordinated between team members, and ran the final quality check before submission</a:t>
            </a:r>
          </a:p>
          <a:p>
            <a:pPr/>
            <a:r>
              <a:t>Mohit Arora — Data Lead</a:t>
            </a:r>
          </a:p>
          <a:p>
            <a:pPr lvl="1"/>
            <a:r>
              <a:t>Owned the data pipeline from start to finish: collection, cleaning, transformation, and getting the dataset ready for analysis</a:t>
            </a:r>
          </a:p>
          <a:p>
            <a:pPr/>
            <a:r>
              <a:t>Nishita — Research and Testing</a:t>
            </a:r>
          </a:p>
          <a:p>
            <a:pPr lvl="1"/>
            <a:r>
              <a:t>Did the literature review, ran validation checks, and provided analysis support throughout the project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Roles &amp; Sprint Timeline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4.1 Team &amp; Project Management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pPr/>
            <a:r>
              <a:t>Sourabh Panchal — Model Builder</a:t>
            </a:r>
          </a:p>
          <a:p>
            <a:pPr lvl="1"/>
            <a:r>
              <a:t>Built the feature engineering workflow, trained and evaluated both models, and selected the best-performing approach</a:t>
            </a:r>
          </a:p>
          <a:p>
            <a:pPr/>
            <a:r>
              <a:t>Ayush Nagpal — Presentation and Demo</a:t>
            </a:r>
          </a:p>
          <a:p>
            <a:pPr lvl="1"/>
            <a:r>
              <a:t>Pulled together the documentation, prepared this presentation, kept the WBS updated, and packaged everything for submission</a:t>
            </a:r>
          </a:p>
          <a:p>
            <a:pPr/>
            <a:r>
              <a:t>4-Day Sprint Schedule</a:t>
            </a:r>
          </a:p>
          <a:p>
            <a:pPr lvl="1"/>
            <a:r>
              <a:t>Feb 21: data collection and initial analysis (40%) → Feb 22: modeling and EDA (60%) → Feb 23: results and testing (80%) → Feb 24: final review and submission (100%)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Improvements &amp; 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4.2 Conclusions &amp; Future Work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pPr/>
            <a:r>
              <a:t>More Features</a:t>
            </a:r>
          </a:p>
          <a:p>
            <a:pPr lvl="1"/>
            <a:r>
              <a:t>Bring in vaccination rates, mobility data, government policy indices, and variant timelines — the model needs this context to handle regime shifts</a:t>
            </a:r>
          </a:p>
          <a:p>
            <a:pPr/>
            <a:r>
              <a:t>Better Models</a:t>
            </a:r>
          </a:p>
          <a:p>
            <a:pPr lvl="1"/>
            <a:r>
              <a:t>Try Prophet, LSTM, or ensemble approaches with rolling retraining so the model can adapt as new data comes in</a:t>
            </a:r>
          </a:p>
          <a:p>
            <a:pPr/>
            <a:r>
              <a:t>Live Dashboard</a:t>
            </a:r>
          </a:p>
          <a:p>
            <a:pPr lvl="1"/>
            <a:r>
              <a:t>Build an automated pipeline that refreshes on a schedule, with a dashboard for real-time monitoring</a:t>
            </a:r>
          </a:p>
          <a:p>
            <a:pPr/>
            <a:r>
              <a:t>Confidence Intervals</a:t>
            </a:r>
          </a:p>
          <a:p>
            <a:pPr lvl="1"/>
            <a:r>
              <a:t>Add uncertainty estimates and scenario-based forecasting so the outputs are actually useful for decision-makers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Accomplishments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4.3 Project Summary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pPr/>
            <a:r>
              <a:t>What We Built</a:t>
            </a:r>
          </a:p>
          <a:p>
            <a:pPr lvl="1"/>
            <a:r>
              <a:t>A complete analytics pipeline: data ingestion, cleaning, exploration, prediction, and validation — all in Spark</a:t>
            </a:r>
          </a:p>
          <a:p>
            <a:pPr/>
            <a:r>
              <a:t>Best Result</a:t>
            </a:r>
          </a:p>
          <a:p>
            <a:pPr lvl="1"/>
            <a:r>
              <a:t>Linear Regression hit R-squared of 0.7234 and worked well for short-term windows of 1 to 7 days</a:t>
            </a:r>
          </a:p>
          <a:p>
            <a:pPr/>
            <a:r>
              <a:t>Team Execution</a:t>
            </a:r>
          </a:p>
          <a:p>
            <a:pPr lvl="1"/>
            <a:r>
              <a:t>We finished everything in a 4-day sprint. Clear ownership of tasks and timely handoffs kept us on schedule</a:t>
            </a:r>
          </a:p>
          <a:p>
            <a:pPr/>
            <a:r>
              <a:t>Deliverables</a:t>
            </a:r>
          </a:p>
          <a:p>
            <a:pPr lvl="1"/>
            <a:r>
              <a:t>Action Plan, Final Report, WBS, and this Presentation are all done and ready for instructor review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C0C0C"/>
                </a:solidFill>
              </a:defRPr>
            </a:pPr>
            <a:r>
              <a:t>Thank You</a:t>
            </a:r>
          </a:p>
          <a:p>
            <a:pPr algn="ctr">
              <a:defRPr sz="1800">
                <a:solidFill>
                  <a:srgbClr val="5D6D7E"/>
                </a:solidFill>
              </a:defRPr>
            </a:pPr>
            <a:r>
              <a:t>SIC-25-26-Team 462</a:t>
            </a:r>
          </a:p>
          <a:p>
            <a:pPr algn="ctr">
              <a:defRPr sz="1400" i="1">
                <a:solidFill>
                  <a:srgbClr val="5D6D7E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4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Project Name</vt:lpstr>
      <vt:lpstr>PowerPoint Presentation</vt:lpstr>
      <vt:lpstr>Slide Title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Name</dc:title>
  <dc:creator>Soon Yong Chang</dc:creator>
  <cp:lastModifiedBy>Prabh Bhatia</cp:lastModifiedBy>
  <cp:revision>1</cp:revision>
  <dcterms:created xsi:type="dcterms:W3CDTF">2019-07-06T14:12:49Z</dcterms:created>
  <dcterms:modified xsi:type="dcterms:W3CDTF">2026-01-30T19:04:05Z</dcterms:modified>
</cp:coreProperties>
</file>